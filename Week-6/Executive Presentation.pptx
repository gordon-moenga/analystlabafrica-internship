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4783" autoAdjust="0"/>
  </p:normalViewPr>
  <p:slideViewPr>
    <p:cSldViewPr snapToGrid="0">
      <p:cViewPr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7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5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87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10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3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8821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41922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563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400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215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119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26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76352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43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854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5928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23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2248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610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61543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3081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2461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61701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2024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920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497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518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A541-B131-CEE1-3730-FC3B519F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E76FA-8C4A-550C-E4C4-F1D744B88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C2B68-74D5-558F-A686-F3654010D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F86E5-A621-8801-EF69-81E36CA5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5B7CD-A0BC-F150-7609-5173D51D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736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8EFE0-1B71-EF07-92B6-DFEBE98A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3F786-8F56-75F7-728B-D798D5CEDD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8893C-F1CD-5B49-86ED-58AB67C1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E3490-8979-EE8B-99CA-97767930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2AC63-4667-4CB5-F1D2-DF9C988F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4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05F14273-BA5E-4785-BEB9-71FD722BC10E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F6D0C5F8-C8B3-4370-9285-8F906D121C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7622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F416-B34D-3979-DAD3-FBD7FADFD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9257"/>
            <a:ext cx="9144000" cy="609600"/>
          </a:xfrm>
        </p:spPr>
        <p:txBody>
          <a:bodyPr>
            <a:normAutofit/>
          </a:bodyPr>
          <a:lstStyle/>
          <a:p>
            <a:r>
              <a:rPr lang="en-US" sz="4000" b="1" dirty="0"/>
              <a:t>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598EA1-C93A-063F-38EA-9C96AAE85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114" y="2177142"/>
            <a:ext cx="10566399" cy="1461687"/>
          </a:xfrm>
        </p:spPr>
        <p:txBody>
          <a:bodyPr/>
          <a:lstStyle/>
          <a:p>
            <a:pPr algn="l"/>
            <a:r>
              <a:rPr lang="en-US" dirty="0"/>
              <a:t>HealthCare Connect serves 20,000 registered patients, with substantial chronic-care demand and material revenue-cycle questions requiring management attention.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A082DD-014E-601F-1770-609C005CE32F}"/>
              </a:ext>
            </a:extLst>
          </p:cNvPr>
          <p:cNvSpPr txBox="1"/>
          <p:nvPr/>
        </p:nvSpPr>
        <p:spPr>
          <a:xfrm>
            <a:off x="624114" y="4067782"/>
            <a:ext cx="2878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Presenter: Gordon Moenga</a:t>
            </a:r>
          </a:p>
        </p:txBody>
      </p:sp>
    </p:spTree>
    <p:extLst>
      <p:ext uri="{BB962C8B-B14F-4D97-AF65-F5344CB8AC3E}">
        <p14:creationId xmlns:p14="http://schemas.microsoft.com/office/powerpoint/2010/main" val="3853257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3E78-DFD6-25C9-FB2B-1477290CE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40230"/>
            <a:ext cx="11604046" cy="74022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Executive Scorecard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F9C0-2B29-B7DF-FC04-AAA1582ED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422" y="1798422"/>
            <a:ext cx="10830705" cy="4091620"/>
          </a:xfrm>
        </p:spPr>
        <p:txBody>
          <a:bodyPr>
            <a:normAutofit/>
          </a:bodyPr>
          <a:lstStyle/>
          <a:p>
            <a:r>
              <a:rPr lang="en-US" sz="1600" dirty="0"/>
              <a:t> Headline indicators: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20,000 registered patients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14,929 recorded chronic-disease patients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5,487 patients aged over 65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5,000 reported appointments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/>
              <a:t>919.95M reported outstanding amount</a:t>
            </a:r>
          </a:p>
          <a:p>
            <a:r>
              <a:rPr lang="en-US" sz="1600" dirty="0"/>
              <a:t>The health center faces both a high recorded chronic-care burden and a significant reported collection challenge. Label the outstanding amount as provisional until reconciled.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6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A9A5-1467-7B8B-25E4-2DCC6718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400" b="1" dirty="0"/>
              <a:t>Patient Profile and Population Needs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2632D-48AF-07F9-E69B-AE0738183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54" y="4801117"/>
            <a:ext cx="11604046" cy="2056883"/>
          </a:xfrm>
        </p:spPr>
        <p:txBody>
          <a:bodyPr/>
          <a:lstStyle/>
          <a:p>
            <a:r>
              <a:rPr lang="en-US" dirty="0"/>
              <a:t>The population is evenly split by gender, while chronic-disease records and the older-patient cohort support a stronger focus on coordinated long-term care.</a:t>
            </a:r>
          </a:p>
          <a:p>
            <a:r>
              <a:rPr lang="en-US" dirty="0"/>
              <a:t>Decision requested: Approve a chronic-care improvement initiative.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15DF1-8AD9-4FFA-5C9D-477F564D1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95" y="1949804"/>
            <a:ext cx="2757364" cy="22656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F806AC-C94B-99A3-BB4F-39026C08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042" y="1949804"/>
            <a:ext cx="3053990" cy="227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58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F0B87-839F-99B3-28DB-9297A82C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758284"/>
            <a:ext cx="11775019" cy="758282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Geographic Reach and Service Demand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300BC-0FE2-D4F6-1A29-AEFE1EEF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132" y="3702205"/>
            <a:ext cx="3712842" cy="192558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Patients by Province</a:t>
            </a:r>
            <a:endParaRPr lang="en-US" dirty="0"/>
          </a:p>
          <a:p>
            <a:pPr lvl="0"/>
            <a:r>
              <a:rPr lang="en-US" dirty="0"/>
              <a:t>Western: 4,091</a:t>
            </a:r>
          </a:p>
          <a:p>
            <a:pPr lvl="0"/>
            <a:r>
              <a:rPr lang="en-US" dirty="0"/>
              <a:t>Eastern: 4,067</a:t>
            </a:r>
          </a:p>
          <a:p>
            <a:pPr lvl="0"/>
            <a:r>
              <a:rPr lang="en-US" dirty="0"/>
              <a:t>Southern: 3,967</a:t>
            </a:r>
          </a:p>
          <a:p>
            <a:pPr lvl="0"/>
            <a:r>
              <a:rPr lang="en-US" dirty="0"/>
              <a:t>Kigali City: 3,952</a:t>
            </a:r>
          </a:p>
          <a:p>
            <a:pPr lvl="0"/>
            <a:r>
              <a:rPr lang="en-US" dirty="0"/>
              <a:t>Northern: 3,923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738551-937E-1A5A-F9B8-061C1780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2" y="1553825"/>
            <a:ext cx="3712842" cy="1925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C0CBD02-9039-EA4C-B960-7F045E1D6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5088" y="1556075"/>
            <a:ext cx="4101350" cy="19233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9DBFF7-A339-CB5A-C92E-BA60FF1B0501}"/>
              </a:ext>
            </a:extLst>
          </p:cNvPr>
          <p:cNvSpPr txBox="1"/>
          <p:nvPr/>
        </p:nvSpPr>
        <p:spPr>
          <a:xfrm>
            <a:off x="5691357" y="3702205"/>
            <a:ext cx="351955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Appointments by Province</a:t>
            </a:r>
            <a:endParaRPr lang="en-US" sz="1100" dirty="0"/>
          </a:p>
          <a:p>
            <a:pPr lvl="0"/>
            <a:r>
              <a:rPr lang="en-US" sz="1100" dirty="0"/>
              <a:t>Western: 1,051</a:t>
            </a:r>
          </a:p>
          <a:p>
            <a:pPr lvl="0"/>
            <a:endParaRPr lang="en-US" sz="1100" dirty="0"/>
          </a:p>
          <a:p>
            <a:pPr lvl="0"/>
            <a:r>
              <a:rPr lang="en-US" sz="1100" dirty="0"/>
              <a:t>Northern: 1,021</a:t>
            </a:r>
          </a:p>
          <a:p>
            <a:pPr lvl="0"/>
            <a:endParaRPr lang="en-US" sz="1100" dirty="0"/>
          </a:p>
          <a:p>
            <a:pPr lvl="0"/>
            <a:r>
              <a:rPr lang="en-US" sz="1100" dirty="0"/>
              <a:t>Eastern: 1,006</a:t>
            </a:r>
          </a:p>
          <a:p>
            <a:pPr lvl="0"/>
            <a:endParaRPr lang="en-US" sz="1100" dirty="0"/>
          </a:p>
          <a:p>
            <a:pPr lvl="0"/>
            <a:r>
              <a:rPr lang="en-US" sz="1100" dirty="0"/>
              <a:t>Southern: 978</a:t>
            </a:r>
          </a:p>
          <a:p>
            <a:pPr lvl="0"/>
            <a:endParaRPr lang="en-US" sz="1100" dirty="0"/>
          </a:p>
          <a:p>
            <a:pPr lvl="0"/>
            <a:r>
              <a:rPr lang="en-US" sz="1100" dirty="0"/>
              <a:t>Kigali City: 944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57BFC0-15BF-3FDD-32C9-F58897DF1067}"/>
              </a:ext>
            </a:extLst>
          </p:cNvPr>
          <p:cNvSpPr txBox="1"/>
          <p:nvPr/>
        </p:nvSpPr>
        <p:spPr>
          <a:xfrm>
            <a:off x="1042656" y="5710108"/>
            <a:ext cx="10242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Business Insight:</a:t>
            </a:r>
            <a:r>
              <a:rPr lang="en-US"/>
              <a:t> Patient and appointment volumes are relatively balanced across provinces. Resource allocation should consider staffing, capacity, and access to care.</a:t>
            </a:r>
          </a:p>
        </p:txBody>
      </p:sp>
    </p:spTree>
    <p:extLst>
      <p:ext uri="{BB962C8B-B14F-4D97-AF65-F5344CB8AC3E}">
        <p14:creationId xmlns:p14="http://schemas.microsoft.com/office/powerpoint/2010/main" val="3309282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6A0D-B48A-F808-95F0-7CB9BC517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88297"/>
            <a:ext cx="11604046" cy="1019238"/>
          </a:xfrm>
        </p:spPr>
        <p:txBody>
          <a:bodyPr>
            <a:noAutofit/>
          </a:bodyPr>
          <a:lstStyle/>
          <a:p>
            <a:r>
              <a:rPr lang="en-US" sz="5400" b="1" dirty="0"/>
              <a:t>Clinical Trends and Resource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6BDD7-0F50-2121-FEF3-85F69E358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54" y="3563320"/>
            <a:ext cx="5856389" cy="2506384"/>
          </a:xfrm>
        </p:spPr>
        <p:txBody>
          <a:bodyPr>
            <a:normAutofit/>
          </a:bodyPr>
          <a:lstStyle/>
          <a:p>
            <a:r>
              <a:rPr lang="en-US" sz="1600" b="1" dirty="0"/>
              <a:t>Most Recorded Diagnoses</a:t>
            </a:r>
            <a:endParaRPr lang="en-US" sz="1600" dirty="0"/>
          </a:p>
          <a:p>
            <a:pPr lvl="0"/>
            <a:r>
              <a:rPr lang="en-US" sz="1600" dirty="0"/>
              <a:t>Gastritis: 12,208</a:t>
            </a:r>
          </a:p>
          <a:p>
            <a:pPr lvl="0"/>
            <a:r>
              <a:rPr lang="en-US" sz="1600" dirty="0"/>
              <a:t>Diabetes: 12,083</a:t>
            </a:r>
          </a:p>
          <a:p>
            <a:pPr lvl="0"/>
            <a:r>
              <a:rPr lang="en-US" sz="1600" dirty="0"/>
              <a:t>Hypertension: 12,075</a:t>
            </a:r>
          </a:p>
          <a:p>
            <a:pPr lvl="0"/>
            <a:r>
              <a:rPr lang="en-US" sz="1600" dirty="0"/>
              <a:t>Malaria: 11,878</a:t>
            </a:r>
          </a:p>
          <a:p>
            <a:pPr lvl="0"/>
            <a:r>
              <a:rPr lang="en-US" sz="1600" dirty="0"/>
              <a:t>Upper Respiratory Infection: 11,756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9AE18A-F783-2F0D-BBEC-0A5E1766B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35" y="1922815"/>
            <a:ext cx="3716639" cy="1525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4F1D39-F1A9-5B2B-25AC-BF1A67EC2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103" y="1922815"/>
            <a:ext cx="3181794" cy="15252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5CB3A7-F62D-86A3-00F8-8C86E06CB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6926" y="1922815"/>
            <a:ext cx="3210373" cy="15252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1383A4-6F29-0BB4-E26D-91156939D7E5}"/>
              </a:ext>
            </a:extLst>
          </p:cNvPr>
          <p:cNvSpPr txBox="1"/>
          <p:nvPr/>
        </p:nvSpPr>
        <p:spPr>
          <a:xfrm>
            <a:off x="6618515" y="3761379"/>
            <a:ext cx="43658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Most Prescribed Medications</a:t>
            </a:r>
            <a:endParaRPr lang="en-US" dirty="0"/>
          </a:p>
          <a:p>
            <a:pPr lvl="0"/>
            <a:r>
              <a:rPr lang="en-US" dirty="0"/>
              <a:t>Amlodipine: 1,068</a:t>
            </a:r>
          </a:p>
          <a:p>
            <a:pPr lvl="0"/>
            <a:r>
              <a:rPr lang="en-US" dirty="0"/>
              <a:t>Omeprazole: 1,040</a:t>
            </a:r>
          </a:p>
          <a:p>
            <a:pPr lvl="0"/>
            <a:r>
              <a:rPr lang="en-US" dirty="0"/>
              <a:t>Metformin: 999</a:t>
            </a:r>
          </a:p>
          <a:p>
            <a:pPr lvl="0"/>
            <a:r>
              <a:rPr lang="en-US" dirty="0"/>
              <a:t>Amoxicillin: 979</a:t>
            </a:r>
          </a:p>
          <a:p>
            <a:pPr lvl="0"/>
            <a:r>
              <a:rPr lang="en-US" dirty="0"/>
              <a:t>Artemether-Lumefantrine: 914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6E16F-53BA-6409-526F-F8E3B8432D58}"/>
              </a:ext>
            </a:extLst>
          </p:cNvPr>
          <p:cNvSpPr txBox="1"/>
          <p:nvPr/>
        </p:nvSpPr>
        <p:spPr>
          <a:xfrm>
            <a:off x="548435" y="6059877"/>
            <a:ext cx="11202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Insight:</a:t>
            </a:r>
            <a:r>
              <a:rPr lang="en-US" dirty="0"/>
              <a:t> Diagnosis and prescription trends can guide medicine procurement, laboratory planning, and chronic-care services. Diagnosis counts should be validated before being interpreted as unique patients.</a:t>
            </a:r>
          </a:p>
        </p:txBody>
      </p:sp>
    </p:spTree>
    <p:extLst>
      <p:ext uri="{BB962C8B-B14F-4D97-AF65-F5344CB8AC3E}">
        <p14:creationId xmlns:p14="http://schemas.microsoft.com/office/powerpoint/2010/main" val="273769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1036-8352-AFBD-6A77-1A4DCE148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77" y="769257"/>
            <a:ext cx="11604046" cy="870857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Service Delivery and Operational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E510F-0D6B-70FF-661C-911B378D0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40" y="1843315"/>
            <a:ext cx="6389334" cy="4104784"/>
          </a:xfrm>
        </p:spPr>
        <p:txBody>
          <a:bodyPr>
            <a:noAutofit/>
          </a:bodyPr>
          <a:lstStyle/>
          <a:p>
            <a:pPr lvl="0"/>
            <a:r>
              <a:rPr lang="en-US" sz="1600" dirty="0"/>
              <a:t>Emergency appointments: 1,650</a:t>
            </a:r>
          </a:p>
          <a:p>
            <a:pPr lvl="0"/>
            <a:r>
              <a:rPr lang="en-US" sz="1600" dirty="0"/>
              <a:t>Average length of hospital stay: 5.49 days</a:t>
            </a:r>
          </a:p>
          <a:p>
            <a:pPr lvl="0"/>
            <a:r>
              <a:rPr lang="en-US" sz="1600" dirty="0"/>
              <a:t>Average appointments per doctor: 14.29</a:t>
            </a:r>
          </a:p>
          <a:p>
            <a:pPr lvl="0"/>
            <a:r>
              <a:rPr lang="en-US" sz="1600" dirty="0"/>
              <a:t>Highest receiving referral facility: HF014</a:t>
            </a:r>
          </a:p>
          <a:p>
            <a:pPr lvl="0"/>
            <a:r>
              <a:rPr lang="en-US" sz="1600" dirty="0"/>
              <a:t>Referrals received by HF014: 258</a:t>
            </a:r>
          </a:p>
          <a:p>
            <a:r>
              <a:rPr lang="en-US" sz="1600" b="1" dirty="0"/>
              <a:t>Management Priorities</a:t>
            </a:r>
            <a:endParaRPr lang="en-US" sz="1600" dirty="0"/>
          </a:p>
          <a:p>
            <a:pPr lvl="0"/>
            <a:r>
              <a:rPr lang="en-US" sz="1600" dirty="0"/>
              <a:t>Monitor emergency waiting times.</a:t>
            </a:r>
          </a:p>
          <a:p>
            <a:pPr lvl="0"/>
            <a:r>
              <a:rPr lang="en-US" sz="1600" dirty="0"/>
              <a:t>Improve referral coordination between facilities.</a:t>
            </a:r>
          </a:p>
          <a:p>
            <a:pPr lvl="0"/>
            <a:r>
              <a:rPr lang="en-US" sz="1600" dirty="0"/>
              <a:t>Review bed capacity and discharge processes.</a:t>
            </a:r>
          </a:p>
          <a:p>
            <a:pPr lvl="0"/>
            <a:r>
              <a:rPr lang="en-US" sz="1600" dirty="0"/>
              <a:t>Align staffing with service demand.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9A6C9-BED5-E22D-6C1F-486F8D0F668F}"/>
              </a:ext>
            </a:extLst>
          </p:cNvPr>
          <p:cNvSpPr txBox="1"/>
          <p:nvPr/>
        </p:nvSpPr>
        <p:spPr>
          <a:xfrm>
            <a:off x="786809" y="23604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866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2E26D-E7CE-AB7A-705B-C43E04A50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9257"/>
            <a:ext cx="11604046" cy="89988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Revenue Performance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E70A3-351F-A528-EEE3-E718717C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324" y="3999073"/>
            <a:ext cx="4209820" cy="1223757"/>
          </a:xfrm>
        </p:spPr>
        <p:txBody>
          <a:bodyPr>
            <a:normAutofit/>
          </a:bodyPr>
          <a:lstStyle/>
          <a:p>
            <a:r>
              <a:rPr lang="en-US" b="1" dirty="0"/>
              <a:t>Monthly Revenue Highlights</a:t>
            </a:r>
            <a:endParaRPr lang="en-US" dirty="0"/>
          </a:p>
          <a:p>
            <a:pPr lvl="0"/>
            <a:r>
              <a:rPr lang="en-US" dirty="0"/>
              <a:t>Highest revenue month: June — 70.17 million</a:t>
            </a:r>
          </a:p>
          <a:p>
            <a:pPr lvl="0"/>
            <a:r>
              <a:rPr lang="en-US" dirty="0"/>
              <a:t>Lowest revenue month: September — 57.25 million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682A8-4257-60B9-EFEC-B0D5B10FA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23" y="1671843"/>
            <a:ext cx="4105848" cy="20005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D79F75-6E08-7C03-12B4-3F70B82DE875}"/>
              </a:ext>
            </a:extLst>
          </p:cNvPr>
          <p:cNvSpPr txBox="1"/>
          <p:nvPr/>
        </p:nvSpPr>
        <p:spPr>
          <a:xfrm>
            <a:off x="5733143" y="23513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89D068-FB7D-2D26-9C9F-C891C9C20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254" y="1671843"/>
            <a:ext cx="4001993" cy="20005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199ABF-6C61-6289-9C9D-2181D6F8FD4F}"/>
              </a:ext>
            </a:extLst>
          </p:cNvPr>
          <p:cNvSpPr txBox="1"/>
          <p:nvPr/>
        </p:nvSpPr>
        <p:spPr>
          <a:xfrm>
            <a:off x="507323" y="5306271"/>
            <a:ext cx="109154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Top Facility by Billed Revenue</a:t>
            </a:r>
            <a:endParaRPr lang="en-US" sz="1400" dirty="0"/>
          </a:p>
          <a:p>
            <a:pPr lvl="0"/>
            <a:r>
              <a:rPr lang="en-US" sz="1400" dirty="0"/>
              <a:t>HF011 — 44.21 million</a:t>
            </a:r>
          </a:p>
          <a:p>
            <a:r>
              <a:rPr lang="en-US" sz="1400" b="1" dirty="0"/>
              <a:t>Business Insight:</a:t>
            </a:r>
            <a:r>
              <a:rPr lang="en-US" sz="1400" dirty="0"/>
              <a:t> Revenue fluctuates across months and departments. Performance should be assessed alongside patient volumes, service mix, and payment collection.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EFF70-1979-FCEA-874D-43D38C0DAF27}"/>
              </a:ext>
            </a:extLst>
          </p:cNvPr>
          <p:cNvSpPr txBox="1"/>
          <p:nvPr/>
        </p:nvSpPr>
        <p:spPr>
          <a:xfrm>
            <a:off x="6434253" y="3991724"/>
            <a:ext cx="400199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Top Revenue-Generating Departments</a:t>
            </a:r>
            <a:endParaRPr lang="en-US" sz="1400" dirty="0"/>
          </a:p>
          <a:p>
            <a:pPr lvl="0"/>
            <a:r>
              <a:rPr lang="en-US" sz="1400" dirty="0"/>
              <a:t>Cardiology — 86.25 million</a:t>
            </a:r>
          </a:p>
          <a:p>
            <a:pPr lvl="0"/>
            <a:r>
              <a:rPr lang="en-US" sz="1400" dirty="0"/>
              <a:t>Radiology — 82.00 million</a:t>
            </a:r>
          </a:p>
          <a:p>
            <a:pPr lvl="0"/>
            <a:r>
              <a:rPr lang="en-US" sz="1400" dirty="0"/>
              <a:t>Laboratory — 78.56 million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7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0C4E-276F-7C1F-B801-58C2F14DE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54744"/>
            <a:ext cx="11604046" cy="72571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Collections and Insurance Claims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BEE2-6671-9C96-89F6-C361D44F2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876" y="3826066"/>
            <a:ext cx="4691162" cy="1754325"/>
          </a:xfrm>
        </p:spPr>
        <p:txBody>
          <a:bodyPr>
            <a:noAutofit/>
          </a:bodyPr>
          <a:lstStyle/>
          <a:p>
            <a:pPr lvl="0"/>
            <a:r>
              <a:rPr lang="en-US" sz="1600" dirty="0"/>
              <a:t>Reported outstanding balance: </a:t>
            </a:r>
            <a:r>
              <a:rPr lang="en-US" sz="1600" b="1" dirty="0"/>
              <a:t>919.95 million</a:t>
            </a:r>
            <a:endParaRPr lang="en-US" sz="1600" dirty="0"/>
          </a:p>
          <a:p>
            <a:pPr lvl="0"/>
            <a:r>
              <a:rPr lang="en-US" sz="1600" dirty="0"/>
              <a:t>Total reported insurance claims: </a:t>
            </a:r>
            <a:r>
              <a:rPr lang="en-US" sz="1600" b="1" dirty="0"/>
              <a:t>4.88 billion</a:t>
            </a:r>
            <a:endParaRPr lang="en-US" sz="1600" dirty="0"/>
          </a:p>
          <a:p>
            <a:pPr lvl="0"/>
            <a:r>
              <a:rPr lang="en-US" sz="1600" dirty="0"/>
              <a:t>Approved claims: approximately </a:t>
            </a:r>
            <a:r>
              <a:rPr lang="en-US" sz="1600" b="1" dirty="0"/>
              <a:t>2.44 billion</a:t>
            </a:r>
            <a:endParaRPr lang="en-US" sz="1600" dirty="0"/>
          </a:p>
          <a:p>
            <a:pPr lvl="0"/>
            <a:r>
              <a:rPr lang="en-US" sz="1600" dirty="0"/>
              <a:t>Pending claims: approximately </a:t>
            </a:r>
            <a:r>
              <a:rPr lang="en-US" sz="1600" b="1" dirty="0"/>
              <a:t>2.44 billion</a:t>
            </a: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65C41-894E-9CCD-8EC4-2EA7595A9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714" y="1561839"/>
            <a:ext cx="4862286" cy="2182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40DF15-9ED4-C8E8-00E3-337D5BBED3EE}"/>
              </a:ext>
            </a:extLst>
          </p:cNvPr>
          <p:cNvSpPr txBox="1"/>
          <p:nvPr/>
        </p:nvSpPr>
        <p:spPr>
          <a:xfrm>
            <a:off x="5738019" y="3826067"/>
            <a:ext cx="616777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Challenges</a:t>
            </a:r>
            <a:endParaRPr lang="en-US" dirty="0"/>
          </a:p>
          <a:p>
            <a:pPr lvl="0"/>
            <a:r>
              <a:rPr lang="en-US" dirty="0"/>
              <a:t>Pending insurance claims</a:t>
            </a:r>
          </a:p>
          <a:p>
            <a:pPr lvl="0"/>
            <a:r>
              <a:rPr lang="en-US" sz="1600" dirty="0"/>
              <a:t>Outstanding</a:t>
            </a:r>
            <a:r>
              <a:rPr lang="en-US" dirty="0"/>
              <a:t> patient and payer balances</a:t>
            </a:r>
          </a:p>
          <a:p>
            <a:pPr lvl="0"/>
            <a:r>
              <a:rPr lang="en-US" dirty="0"/>
              <a:t>Potential delays in collections</a:t>
            </a:r>
          </a:p>
          <a:p>
            <a:pPr lvl="0"/>
            <a:r>
              <a:rPr lang="en-US" dirty="0"/>
              <a:t>Differences between financial totals across dashboard tables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C8EA7-7635-A2D2-50D7-CACF0906A7C1}"/>
              </a:ext>
            </a:extLst>
          </p:cNvPr>
          <p:cNvSpPr txBox="1"/>
          <p:nvPr/>
        </p:nvSpPr>
        <p:spPr>
          <a:xfrm>
            <a:off x="472876" y="5780090"/>
            <a:ext cx="114329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Recommended Action:</a:t>
            </a:r>
            <a:r>
              <a:rPr lang="en-US" sz="1600" dirty="0"/>
              <a:t> Reconcile billing, payments, claims, and outstanding balances before confirming the financial position.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209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EE4D-D49E-0E1B-8093-DF738782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54743"/>
            <a:ext cx="11604046" cy="108857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Data Reliability and Reporting Risks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DB99-FB7E-D5F1-4EC7-A5CD8D269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640884"/>
            <a:ext cx="11604046" cy="4234643"/>
          </a:xfrm>
        </p:spPr>
        <p:txBody>
          <a:bodyPr>
            <a:noAutofit/>
          </a:bodyPr>
          <a:lstStyle/>
          <a:p>
            <a:r>
              <a:rPr lang="en-US" sz="1600" b="1" dirty="0"/>
              <a:t>Issues Identified</a:t>
            </a:r>
            <a:endParaRPr lang="en-US" sz="1600" dirty="0"/>
          </a:p>
          <a:p>
            <a:pPr lvl="0"/>
            <a:r>
              <a:rPr lang="en-US" sz="1600" dirty="0"/>
              <a:t>Repeated phone numbers requiring validation</a:t>
            </a:r>
          </a:p>
          <a:p>
            <a:pPr lvl="0"/>
            <a:r>
              <a:rPr lang="en-US" sz="1600" dirty="0"/>
              <a:t>Insurance coverage records requiring confirmation</a:t>
            </a:r>
          </a:p>
          <a:p>
            <a:pPr lvl="0"/>
            <a:r>
              <a:rPr lang="en-US" sz="1600" dirty="0"/>
              <a:t>Diagnosis counts that may include multiple records per patient</a:t>
            </a:r>
          </a:p>
          <a:p>
            <a:pPr lvl="0"/>
            <a:r>
              <a:rPr lang="en-US" sz="1600" dirty="0"/>
              <a:t>Financial totals that do not fully reconcile</a:t>
            </a:r>
          </a:p>
          <a:p>
            <a:pPr lvl="0"/>
            <a:r>
              <a:rPr lang="en-US" sz="1600" dirty="0"/>
              <a:t>Potential inconsistencies in categories and reporting definitions</a:t>
            </a:r>
          </a:p>
          <a:p>
            <a:r>
              <a:rPr lang="en-US" sz="1600" b="1" dirty="0"/>
              <a:t>Recommended Improvements</a:t>
            </a:r>
            <a:endParaRPr lang="en-US" sz="1600" dirty="0"/>
          </a:p>
          <a:p>
            <a:pPr lvl="0"/>
            <a:r>
              <a:rPr lang="en-US" sz="1600" dirty="0"/>
              <a:t>Validate patient records and identifiers.</a:t>
            </a:r>
          </a:p>
          <a:p>
            <a:pPr lvl="0"/>
            <a:r>
              <a:rPr lang="en-US" sz="1600" dirty="0"/>
              <a:t>Standardize KPI definitions.</a:t>
            </a:r>
          </a:p>
          <a:p>
            <a:pPr lvl="0"/>
            <a:r>
              <a:rPr lang="en-US" sz="1600" dirty="0"/>
              <a:t>Review table relationships and aggregation logic.</a:t>
            </a:r>
          </a:p>
          <a:p>
            <a:pPr lvl="0"/>
            <a:r>
              <a:rPr lang="en-US" sz="1600" dirty="0"/>
              <a:t>Establish routine data-quality checks.</a:t>
            </a:r>
          </a:p>
          <a:p>
            <a:r>
              <a:rPr lang="en-US" sz="1600" b="1" dirty="0"/>
              <a:t>Key Message:</a:t>
            </a:r>
            <a:r>
              <a:rPr lang="en-US" sz="1600" dirty="0"/>
              <a:t> Reliable data supports better clinical, operational, and financial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3929793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C0323-1D27-4A90-3A53-96E516EA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9258"/>
            <a:ext cx="11604046" cy="1030514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Recommendations and Next Steps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A38B4-64EA-C4C1-9D6D-4B2640375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752" y="1466713"/>
            <a:ext cx="11604046" cy="5282430"/>
          </a:xfrm>
        </p:spPr>
        <p:txBody>
          <a:bodyPr>
            <a:noAutofit/>
          </a:bodyPr>
          <a:lstStyle/>
          <a:p>
            <a:r>
              <a:rPr lang="en-US" sz="1600" b="1" dirty="0"/>
              <a:t>Priority 1: Financial Control</a:t>
            </a:r>
            <a:br>
              <a:rPr lang="en-US" sz="1600" dirty="0"/>
            </a:br>
            <a:r>
              <a:rPr lang="en-US" sz="1600" dirty="0"/>
              <a:t>Reconcile payments, billing, outstanding balances, and insurance claims.</a:t>
            </a:r>
          </a:p>
          <a:p>
            <a:r>
              <a:rPr lang="en-US" sz="1600" b="1" dirty="0"/>
              <a:t>Priority 2: Patient Care</a:t>
            </a:r>
            <a:br>
              <a:rPr lang="en-US" sz="1600" dirty="0"/>
            </a:br>
            <a:r>
              <a:rPr lang="en-US" sz="1600" dirty="0"/>
              <a:t>Strengthen chronic disease management and patient follow-up.</a:t>
            </a:r>
          </a:p>
          <a:p>
            <a:r>
              <a:rPr lang="en-US" sz="1600" b="1" dirty="0"/>
              <a:t>Priority 3: Operational Efficiency</a:t>
            </a:r>
            <a:br>
              <a:rPr lang="en-US" sz="1600" dirty="0"/>
            </a:br>
            <a:r>
              <a:rPr lang="en-US" sz="1600" dirty="0"/>
              <a:t>Review staffing, facility capacity, emergency services, and referral processes.</a:t>
            </a:r>
          </a:p>
          <a:p>
            <a:r>
              <a:rPr lang="en-US" sz="1600" b="1" dirty="0"/>
              <a:t>Priority 4: Data Quality</a:t>
            </a:r>
            <a:br>
              <a:rPr lang="en-US" sz="1600" dirty="0"/>
            </a:br>
            <a:r>
              <a:rPr lang="en-US" sz="1600" dirty="0"/>
              <a:t>Validate records, KPI definitions, and dashboard calculations.</a:t>
            </a:r>
          </a:p>
          <a:p>
            <a:r>
              <a:rPr lang="en-US" sz="1600" b="1" dirty="0"/>
              <a:t>90-Day Action Plan</a:t>
            </a:r>
            <a:endParaRPr lang="en-US" sz="1600" dirty="0"/>
          </a:p>
          <a:p>
            <a:pPr lvl="0"/>
            <a:r>
              <a:rPr lang="en-US" sz="1600" dirty="0"/>
              <a:t>Days 1–30: Validate data and reconcile financial records.</a:t>
            </a:r>
          </a:p>
          <a:p>
            <a:pPr lvl="0"/>
            <a:r>
              <a:rPr lang="en-US" sz="1600" dirty="0"/>
              <a:t>Days 31–60: Implement targeted clinical and financial improvements.</a:t>
            </a:r>
          </a:p>
          <a:p>
            <a:pPr lvl="0"/>
            <a:r>
              <a:rPr lang="en-US" sz="1600" dirty="0"/>
              <a:t>Days 61–90: Review performance indicators and report progress.</a:t>
            </a:r>
          </a:p>
          <a:p>
            <a:r>
              <a:rPr lang="en-US" sz="1600" b="1" dirty="0"/>
              <a:t>Expected Outcome:</a:t>
            </a:r>
            <a:r>
              <a:rPr lang="en-US" sz="1600" dirty="0"/>
              <a:t> Better patient care, improved operational efficiency, and stronger financial accountability.</a:t>
            </a:r>
          </a:p>
          <a:p>
            <a:r>
              <a:rPr lang="en-US" sz="1600" b="1" dirty="0"/>
              <a:t>Thank You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7542947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76</TotalTime>
  <Words>660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Arial Nova Light</vt:lpstr>
      <vt:lpstr>Dark Gradient</vt:lpstr>
      <vt:lpstr>Overview</vt:lpstr>
      <vt:lpstr>Executive Scorecard</vt:lpstr>
      <vt:lpstr>Patient Profile and Population Needs</vt:lpstr>
      <vt:lpstr>Geographic Reach and Service Demand</vt:lpstr>
      <vt:lpstr>Clinical Trends and Resource Planning</vt:lpstr>
      <vt:lpstr>Service Delivery and Operational Performance</vt:lpstr>
      <vt:lpstr>Revenue Performance </vt:lpstr>
      <vt:lpstr>Collections and Insurance Claims</vt:lpstr>
      <vt:lpstr>Data Reliability and Reporting Risks </vt:lpstr>
      <vt:lpstr>Recommendations and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Gordon Moenga</dc:creator>
  <cp:lastModifiedBy>Gordon Moenga</cp:lastModifiedBy>
  <cp:revision>1</cp:revision>
  <dcterms:created xsi:type="dcterms:W3CDTF">2026-10-25T21:09:50Z</dcterms:created>
  <dcterms:modified xsi:type="dcterms:W3CDTF">2026-10-25T22:26:47Z</dcterms:modified>
</cp:coreProperties>
</file>