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780D6-EC04-4E7A-988C-C3179BAC421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B4F17-567F-48D9-B3BF-E9875FF46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21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B4F17-567F-48D9-B3BF-E9875FF469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98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56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5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60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76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41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88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4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4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08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51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26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62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46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70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27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79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832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652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516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30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170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792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968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108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469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536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86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A4AC066-C9D2-4692-BD1C-3091FE26081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A0455B1C-AE1B-4898-B47B-101A7E265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08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  <p:sldLayoutId id="2147483751" r:id="rId23"/>
    <p:sldLayoutId id="2147483752" r:id="rId24"/>
    <p:sldLayoutId id="2147483753" r:id="rId25"/>
    <p:sldLayoutId id="2147483754" r:id="rId26"/>
    <p:sldLayoutId id="2147483755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EA4D1-B835-E397-C489-3365594DE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622" y="1309512"/>
            <a:ext cx="9290755" cy="1655762"/>
          </a:xfrm>
        </p:spPr>
        <p:txBody>
          <a:bodyPr>
            <a:normAutofit fontScale="90000"/>
          </a:bodyPr>
          <a:lstStyle/>
          <a:p>
            <a:r>
              <a:rPr lang="en-US" sz="7200" b="1" dirty="0"/>
              <a:t>SWIFTLOG LOGISTICS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1E02C-8C9D-FE7D-74AD-0A6A763A89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5955" y="2728207"/>
            <a:ext cx="9800028" cy="1832504"/>
          </a:xfrm>
        </p:spPr>
        <p:txBody>
          <a:bodyPr>
            <a:normAutofit/>
          </a:bodyPr>
          <a:lstStyle/>
          <a:p>
            <a:r>
              <a:rPr lang="en-US" b="1" dirty="0"/>
              <a:t>BUSINESS INTELLIGENCE AND OPERATIONAL PERFORMANCE ANALYSIS</a:t>
            </a:r>
          </a:p>
          <a:p>
            <a:r>
              <a:rPr lang="en-US" dirty="0"/>
              <a:t>AUTHOR: GORDON MOENGA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293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49C3B-0FA9-922F-CECD-EF130E159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b="1" u="sng" dirty="0"/>
              <a:t>Business</a:t>
            </a:r>
            <a:r>
              <a:rPr lang="en-US" b="1" u="sng" dirty="0"/>
              <a:t> Overview</a:t>
            </a:r>
            <a:br>
              <a:rPr lang="en-US" b="1" u="sng" dirty="0"/>
            </a:b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452D9-09E6-ABDA-170A-9A9EEA9DF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463" y="1966556"/>
            <a:ext cx="10104551" cy="331378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 err="1"/>
              <a:t>SwiftLog</a:t>
            </a:r>
            <a:r>
              <a:rPr lang="en-US" sz="1600" dirty="0"/>
              <a:t> Logistics' business performance was </a:t>
            </a:r>
            <a:r>
              <a:rPr lang="en-US" sz="1600" dirty="0" err="1"/>
              <a:t>analysed</a:t>
            </a:r>
            <a:r>
              <a:rPr lang="en-US" sz="1600" dirty="0"/>
              <a:t> using Power BI to provide insights into revenue, customers, inventory, deliveries and product returns.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The project focused on transforming operational data into interactive dashboards to evaluate key performance indicators, identify operational challenges and uncover opportunities for business growth.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Key Focus Areas</a:t>
            </a:r>
            <a:endParaRPr lang="en-US" sz="1600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600" dirty="0"/>
              <a:t>Revenue and Customer Performance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600" dirty="0"/>
              <a:t>Inventory and Warehouse Operations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600" dirty="0"/>
              <a:t>Delivery and Shipment Performance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600" dirty="0"/>
              <a:t>Product Returns and Service Quality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42580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C6C4-4AE4-029B-1019-51219E6E3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FCA06-79DA-975A-E4B6-C2C69EED6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5831" y="1954536"/>
            <a:ext cx="7464382" cy="25659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The key objectives were to: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600" dirty="0"/>
              <a:t>Evaluate revenue performance across products, customers and locations.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600" dirty="0" err="1"/>
              <a:t>Analyse</a:t>
            </a:r>
            <a:r>
              <a:rPr lang="en-US" sz="1600" dirty="0"/>
              <a:t> monthly revenue and order trends.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600" dirty="0"/>
              <a:t>Assess delivery performance and identify delays.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600" dirty="0"/>
              <a:t>Examine inventory levels and warehouse activity.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600" dirty="0"/>
              <a:t>Investigate product return volumes and reasons.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600" dirty="0"/>
              <a:t>Develop evidence-based recommendations to improve business performance.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31575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57BD-E1C4-3A0C-4DFE-1EE19BAE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DATA PREPARATION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BB717-110D-C2B0-B48B-F8BF08AEC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37636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Data preparation was an essential step in developing a reliable Power BI solution.</a:t>
            </a:r>
          </a:p>
          <a:p>
            <a:pPr marL="0" indent="0">
              <a:buNone/>
            </a:pPr>
            <a:r>
              <a:rPr lang="en-US" sz="1600" dirty="0"/>
              <a:t>The workflow involved: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600" dirty="0"/>
              <a:t>Reviewing the available datasets and their structures.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600" dirty="0"/>
              <a:t>Inspecting data types and identifying potential quality issues.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600" dirty="0"/>
              <a:t>Preparing date fields and other columns for analysis.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600" dirty="0"/>
              <a:t>Establishing relationships between relevant tables.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600" dirty="0"/>
              <a:t>Creating measures and aggregations for business KPIs.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600" dirty="0"/>
              <a:t>Building visuals to support interactive analysis.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Limitation:</a:t>
            </a:r>
            <a:r>
              <a:rPr lang="en-US" sz="1600" dirty="0"/>
              <a:t> Some metrics require further validation because certain dashboard values are rounded, difficult to read or potentially inconsistent.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32223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D8E05-7082-318C-2349-995F61F1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EXECUTIVE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E6E46-9E77-EE7E-DC3F-53D55E927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36348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This project used Power BI to </a:t>
            </a:r>
            <a:r>
              <a:rPr lang="en-US" sz="1600" dirty="0" err="1"/>
              <a:t>analyse</a:t>
            </a:r>
            <a:r>
              <a:rPr lang="en-US" sz="1600" dirty="0"/>
              <a:t> </a:t>
            </a:r>
            <a:r>
              <a:rPr lang="en-US" sz="1600" dirty="0" err="1"/>
              <a:t>SwiftLog</a:t>
            </a:r>
            <a:r>
              <a:rPr lang="en-US" sz="1600" dirty="0"/>
              <a:t> Logistics' revenue, customers, inventory, shipments and product returns.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Key findings from the dashboard include: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b="1" dirty="0"/>
              <a:t>Total Revenue:</a:t>
            </a:r>
            <a:r>
              <a:rPr lang="en-US" sz="1600" dirty="0"/>
              <a:t> NGN 7.11 million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b="1" dirty="0"/>
              <a:t>Total Orders:</a:t>
            </a:r>
            <a:r>
              <a:rPr lang="en-US" sz="1600" dirty="0"/>
              <a:t> Approximately 5,000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b="1" dirty="0"/>
              <a:t>Total Customers:</a:t>
            </a:r>
            <a:r>
              <a:rPr lang="en-US" sz="1600" dirty="0"/>
              <a:t> Approximately 1,000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b="1" dirty="0"/>
              <a:t>On-Time Deliveries:</a:t>
            </a:r>
            <a:r>
              <a:rPr lang="en-US" sz="1600" dirty="0"/>
              <a:t> 63.72%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b="1" dirty="0"/>
              <a:t>Delayed Deliveries:</a:t>
            </a:r>
            <a:r>
              <a:rPr lang="en-US" sz="1600" dirty="0"/>
              <a:t> 36.28%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b="1" dirty="0"/>
              <a:t>Inventory Value:</a:t>
            </a:r>
            <a:r>
              <a:rPr lang="en-US" sz="1600" dirty="0"/>
              <a:t> NGN 83.80 million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b="1" dirty="0"/>
              <a:t>Returned Items:</a:t>
            </a:r>
            <a:r>
              <a:rPr lang="en-US" sz="1600" dirty="0"/>
              <a:t> 500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The analysis highlights delivery delays, product returns and inventory management as important areas for operational improvement.</a:t>
            </a:r>
          </a:p>
        </p:txBody>
      </p:sp>
    </p:spTree>
    <p:extLst>
      <p:ext uri="{BB962C8B-B14F-4D97-AF65-F5344CB8AC3E}">
        <p14:creationId xmlns:p14="http://schemas.microsoft.com/office/powerpoint/2010/main" val="5280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2835-EA99-6FBD-3026-5624127C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MONTHLY REVENUE TREND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82475-40E5-7DD6-645A-458EDC636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4688389"/>
            <a:ext cx="10104551" cy="1738169"/>
          </a:xfrm>
        </p:spPr>
        <p:txBody>
          <a:bodyPr>
            <a:normAutofit/>
          </a:bodyPr>
          <a:lstStyle/>
          <a:p>
            <a:r>
              <a:rPr lang="en-US" dirty="0" err="1"/>
              <a:t>SwiftLog</a:t>
            </a:r>
            <a:r>
              <a:rPr lang="en-US" dirty="0"/>
              <a:t> Logistics recorded approximately NGN 7.11 million in total revenue.</a:t>
            </a:r>
          </a:p>
          <a:p>
            <a:r>
              <a:rPr lang="en-US" dirty="0"/>
              <a:t>The monthly revenue analysis shows variations throughout the reporting period.</a:t>
            </a:r>
          </a:p>
          <a:p>
            <a:pPr lvl="0"/>
            <a:r>
              <a:rPr lang="en-US" dirty="0"/>
              <a:t>Month 8 recorded the highest visible monthly revenue, at approximately NGN 1.00 million.</a:t>
            </a:r>
          </a:p>
          <a:p>
            <a:pPr lvl="0"/>
            <a:r>
              <a:rPr lang="en-US" dirty="0"/>
              <a:t>Month 6 recorded approximately NGN 0.78 million.</a:t>
            </a:r>
          </a:p>
          <a:p>
            <a:pPr lvl="0"/>
            <a:r>
              <a:rPr lang="en-US" dirty="0"/>
              <a:t>Month 9 recorded approximately NGN 0.19 million, which requires validation to determine whether the month is incomplete.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93E861-A4AD-3742-B70D-9AF13172B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17" y="1612655"/>
            <a:ext cx="6086343" cy="284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904A-BF18-CEA5-52D9-16A3A26A4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658601" cy="592904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/>
              <a:t>CUSTOMER&amp;PRODUCT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99339-8969-FA56-9B4F-E75F2593C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3589" y="4610638"/>
            <a:ext cx="10368409" cy="21185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dashboard provides visibility into customer contributions and product revenue.</a:t>
            </a:r>
          </a:p>
          <a:p>
            <a:r>
              <a:rPr lang="en-US" dirty="0"/>
              <a:t>Key findings include:</a:t>
            </a:r>
          </a:p>
          <a:p>
            <a:pPr lvl="0"/>
            <a:r>
              <a:rPr lang="en-US" dirty="0"/>
              <a:t>Lagos generated approximately NGN 3.86 million, representing 54.26% of total revenue.</a:t>
            </a:r>
          </a:p>
          <a:p>
            <a:pPr lvl="0"/>
            <a:r>
              <a:rPr lang="en-US" dirty="0"/>
              <a:t>Abuja contributed approximately NGN 1.82 million, while Kano contributed approximately NGN 1.44 million.</a:t>
            </a:r>
          </a:p>
          <a:p>
            <a:pPr lvl="0"/>
            <a:r>
              <a:rPr lang="en-US" dirty="0"/>
              <a:t>Customer C0924 appears first in the Top 10 Customers by Total Revenue chart.</a:t>
            </a:r>
          </a:p>
          <a:p>
            <a:pPr lvl="0"/>
            <a:r>
              <a:rPr lang="en-US" dirty="0"/>
              <a:t>Product P085 appears first in the Top 10 Products by Total Revenue chart.</a:t>
            </a:r>
          </a:p>
          <a:p>
            <a:pPr lvl="0"/>
            <a:r>
              <a:rPr lang="en-US" dirty="0"/>
              <a:t>The dashboard records approximately 951 repeat customers.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121E1F-42FA-21F2-8888-27D33A6FB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451" y="1899619"/>
            <a:ext cx="3467584" cy="24193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2B2CEC-C0E0-8E49-0741-2A99E712D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167" y="1899619"/>
            <a:ext cx="5694810" cy="241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541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856F-7972-F07A-3B01-FDB747443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DELIVERY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5B721-B4CF-02CC-3E6F-0943DD7AB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8" y="4472748"/>
            <a:ext cx="10846160" cy="1680526"/>
          </a:xfrm>
        </p:spPr>
        <p:txBody>
          <a:bodyPr/>
          <a:lstStyle/>
          <a:p>
            <a:r>
              <a:rPr lang="en-US" dirty="0"/>
              <a:t>The reported figures show:</a:t>
            </a:r>
          </a:p>
          <a:p>
            <a:pPr lvl="0"/>
            <a:r>
              <a:rPr lang="en-US" b="1" dirty="0"/>
              <a:t>On-Time Deliveries:</a:t>
            </a:r>
            <a:r>
              <a:rPr lang="en-US" dirty="0"/>
              <a:t> 3.19K, representing 63.72%.</a:t>
            </a:r>
          </a:p>
          <a:p>
            <a:pPr lvl="0"/>
            <a:r>
              <a:rPr lang="en-US" b="1" dirty="0"/>
              <a:t>Delayed Deliveries:</a:t>
            </a:r>
            <a:r>
              <a:rPr lang="en-US" dirty="0"/>
              <a:t> 1.81K, representing 36.28%.</a:t>
            </a:r>
          </a:p>
          <a:p>
            <a:pPr lvl="0"/>
            <a:r>
              <a:rPr lang="en-US" b="1" dirty="0"/>
              <a:t>Average Delivery Delay:</a:t>
            </a:r>
            <a:r>
              <a:rPr lang="en-US" dirty="0"/>
              <a:t> 3.57, as reported by the dashboard.</a:t>
            </a:r>
          </a:p>
          <a:p>
            <a:r>
              <a:rPr lang="en-US" dirty="0"/>
              <a:t>More than one-third of shipments were classified as delayed, indicating an opportunity to improve delivery reliability.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ABA18A-275F-7C91-55CC-4F19AA457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8" y="1991710"/>
            <a:ext cx="4896533" cy="20767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4F9A0A-2486-A7BE-1480-2A4E9EE47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206" y="1991710"/>
            <a:ext cx="4629796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761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E35A2-9971-9E95-88DD-229F65FF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PRODUCT RETURN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2C218B-B9CA-0B74-EDCC-DCCE47DD3A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7081616"/>
              </p:ext>
            </p:extLst>
          </p:nvPr>
        </p:nvGraphicFramePr>
        <p:xfrm>
          <a:off x="709412" y="2056584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0658606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868822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79040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 reason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2998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Late delivery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37.0%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55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Damaged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32.6%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1145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Wrong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30.4%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5181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45046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EBF52F4-215F-D0A4-6FE8-2D325D395C1B}"/>
              </a:ext>
            </a:extLst>
          </p:cNvPr>
          <p:cNvSpPr txBox="1"/>
          <p:nvPr/>
        </p:nvSpPr>
        <p:spPr>
          <a:xfrm>
            <a:off x="709412" y="4597757"/>
            <a:ext cx="9264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The dashboard records 500 returned items across three reported reasons.</a:t>
            </a:r>
          </a:p>
          <a:p>
            <a:r>
              <a:rPr lang="en-US" sz="1600" dirty="0"/>
              <a:t>Late delivery is the largest reported return category, followed by damaged items and incorrect items.</a:t>
            </a:r>
          </a:p>
        </p:txBody>
      </p:sp>
    </p:spTree>
    <p:extLst>
      <p:ext uri="{BB962C8B-B14F-4D97-AF65-F5344CB8AC3E}">
        <p14:creationId xmlns:p14="http://schemas.microsoft.com/office/powerpoint/2010/main" val="585702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DDBC2-C719-E8E7-2C34-E27F9CEDE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INVENTORY&amp;WAREHOUSE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D18A2-03FB-D3D6-6081-8EAEDD0F1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885" y="1763714"/>
            <a:ext cx="11125202" cy="1162151"/>
          </a:xfrm>
        </p:spPr>
        <p:txBody>
          <a:bodyPr>
            <a:normAutofit/>
          </a:bodyPr>
          <a:lstStyle/>
          <a:p>
            <a:r>
              <a:rPr lang="en-US" dirty="0"/>
              <a:t>The inventory dashboard reports a total inventory value of approximately NGN 83.80 million.</a:t>
            </a:r>
          </a:p>
          <a:p>
            <a:r>
              <a:rPr lang="en-US" dirty="0"/>
              <a:t>It also identifies products with comparatively low stock levels and shows order and stock distributions across warehouses.</a:t>
            </a:r>
          </a:p>
          <a:p>
            <a:r>
              <a:rPr lang="en-US" dirty="0"/>
              <a:t>The ten products listed in the Low Stock Products visual have a combined displayed stock value of 66,486.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E8CA2-A39F-4A5B-AA63-418B98B76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39" y="2928226"/>
            <a:ext cx="4134427" cy="2629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73FD9F-4596-A973-9472-02373ABBF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2918700"/>
            <a:ext cx="4020111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928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3F6E-237F-1EA0-3A8A-1877DC08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KEY BUSINESS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2D110-679B-DCFB-4E9D-91C6342F4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8" y="1763022"/>
            <a:ext cx="11125202" cy="3622016"/>
          </a:xfrm>
        </p:spPr>
        <p:txBody>
          <a:bodyPr>
            <a:normAutofit/>
          </a:bodyPr>
          <a:lstStyle/>
          <a:p>
            <a:r>
              <a:rPr lang="en-US" sz="1600" b="1" dirty="0"/>
              <a:t>1. Delivery reliability requires attention.</a:t>
            </a:r>
            <a:br>
              <a:rPr lang="en-US" sz="1600" dirty="0"/>
            </a:br>
            <a:r>
              <a:rPr lang="en-US" sz="1600" dirty="0"/>
              <a:t>The reported delivery delay rate is 36.28%, creating an opportunity to improve service performance.</a:t>
            </a:r>
          </a:p>
          <a:p>
            <a:r>
              <a:rPr lang="en-US" sz="1600" b="1" dirty="0"/>
              <a:t>2. Returns have identifiable operational causes.</a:t>
            </a:r>
            <a:br>
              <a:rPr lang="en-US" sz="1600" dirty="0"/>
            </a:br>
            <a:r>
              <a:rPr lang="en-US" sz="1600" dirty="0"/>
              <a:t>Late delivery, damage and wrong items account for all 500 returned items recorded in the dashboard.</a:t>
            </a:r>
          </a:p>
          <a:p>
            <a:r>
              <a:rPr lang="en-US" sz="1600" b="1" dirty="0"/>
              <a:t>3. Revenue is concentrated in Lagos.</a:t>
            </a:r>
            <a:br>
              <a:rPr lang="en-US" sz="1600" dirty="0"/>
            </a:br>
            <a:r>
              <a:rPr lang="en-US" sz="1600" dirty="0"/>
              <a:t>Lagos contributes 54.26% of reported revenue, making it an important market to protect.</a:t>
            </a:r>
          </a:p>
          <a:p>
            <a:r>
              <a:rPr lang="en-US" sz="1600" b="1" dirty="0"/>
              <a:t>4. Inventory requires closer monitoring.</a:t>
            </a:r>
            <a:br>
              <a:rPr lang="en-US" sz="1600" dirty="0"/>
            </a:br>
            <a:r>
              <a:rPr lang="en-US" sz="1600" dirty="0"/>
              <a:t>The reported inventory value is NGN 83.80 million, while the dashboard also highlights low-stock products.</a:t>
            </a:r>
          </a:p>
          <a:p>
            <a:r>
              <a:rPr lang="en-US" sz="1600" b="1" dirty="0"/>
              <a:t>5. Some performance questions remain unanswered.</a:t>
            </a:r>
            <a:br>
              <a:rPr lang="en-US" sz="1600" dirty="0"/>
            </a:br>
            <a:r>
              <a:rPr lang="en-US" sz="1600" dirty="0"/>
              <a:t>Supplier performance, product-specific return rates and warehouse efficiency require additional measures or more detailed data.</a:t>
            </a:r>
          </a:p>
          <a:p>
            <a:r>
              <a:rPr lang="en-US" sz="1600" b="1" dirty="0"/>
              <a:t>6. Monthly reporting requires validation.</a:t>
            </a:r>
            <a:br>
              <a:rPr lang="en-US" sz="1600" dirty="0"/>
            </a:br>
            <a:r>
              <a:rPr lang="en-US" sz="1600" dirty="0"/>
              <a:t>The unusually low Month 9 revenue should be checked before drawing conclusions about business performance.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37878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21A-5E44-C221-CA2B-04A89206F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A6623-47FE-C067-54E4-7C273C5A1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06" y="1763714"/>
            <a:ext cx="11125202" cy="4330354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US" sz="1600" b="1" dirty="0" err="1"/>
              <a:t>Optimise</a:t>
            </a:r>
            <a:r>
              <a:rPr lang="en-US" sz="1600" b="1" dirty="0"/>
              <a:t> deliveries:</a:t>
            </a:r>
            <a:r>
              <a:rPr lang="en-US" sz="1600" dirty="0"/>
              <a:t> </a:t>
            </a:r>
            <a:r>
              <a:rPr lang="en-US" sz="1600" dirty="0" err="1"/>
              <a:t>Analyse</a:t>
            </a:r>
            <a:r>
              <a:rPr lang="en-US" sz="1600" dirty="0"/>
              <a:t> delays by route, region, carrier and warehouse.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600" b="1" dirty="0"/>
              <a:t>Reduce late-delivery returns:</a:t>
            </a:r>
            <a:r>
              <a:rPr lang="en-US" sz="1600" dirty="0"/>
              <a:t> Identify recurring delivery bottlenecks and improve dispatch planning.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600" b="1" dirty="0"/>
              <a:t>Improve packaging:</a:t>
            </a:r>
            <a:r>
              <a:rPr lang="en-US" sz="1600" dirty="0"/>
              <a:t> Introduce handling standards and monitor damage rates.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600" b="1" dirty="0"/>
              <a:t>Prevent incorrect orders:</a:t>
            </a:r>
            <a:r>
              <a:rPr lang="en-US" sz="1600" dirty="0"/>
              <a:t> Use barcode verification and picking checks.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600" b="1" dirty="0"/>
              <a:t>Strengthen inventory control:</a:t>
            </a:r>
            <a:r>
              <a:rPr lang="en-US" sz="1600" dirty="0"/>
              <a:t> Establish reorder points and safety stock for important products.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600" b="1" dirty="0"/>
              <a:t>Review inventory value:</a:t>
            </a:r>
            <a:r>
              <a:rPr lang="en-US" sz="1600" dirty="0"/>
              <a:t> Investigate slow-moving, excess and obsolete inventory.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600" b="1" dirty="0"/>
              <a:t>Measure warehouse efficiency:</a:t>
            </a:r>
            <a:r>
              <a:rPr lang="en-US" sz="1600" dirty="0"/>
              <a:t> Track cost per order, picking accuracy, processing time and dispatch performance.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600" b="1" dirty="0"/>
              <a:t>Monitor suppliers:</a:t>
            </a:r>
            <a:r>
              <a:rPr lang="en-US" sz="1600" dirty="0"/>
              <a:t> Evaluate on-time delivery, lead time, product quality and order fulfilment.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600" b="1" dirty="0"/>
              <a:t>Improve customer retention:</a:t>
            </a:r>
            <a:r>
              <a:rPr lang="en-US" sz="1600" dirty="0"/>
              <a:t> Monitor repeat purchasing and customer revenue trends.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600" b="1" dirty="0"/>
              <a:t>Expand regional opportunities:</a:t>
            </a:r>
            <a:r>
              <a:rPr lang="en-US" sz="1600" dirty="0"/>
              <a:t> Investigate ways to grow Abuja and Kano while maintaining Lagos performance.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600" b="1" dirty="0"/>
              <a:t>Improve reporting quality:</a:t>
            </a:r>
            <a:r>
              <a:rPr lang="en-US" sz="1600" dirty="0"/>
              <a:t> Validate Month 9 revenue and reconcile inconsistent KPI totals.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600" b="1" dirty="0"/>
              <a:t>Establish KPI targets:</a:t>
            </a:r>
            <a:r>
              <a:rPr lang="en-US" sz="1600" dirty="0"/>
              <a:t> Assign metric owners and review performance regularly.</a:t>
            </a:r>
          </a:p>
        </p:txBody>
      </p:sp>
    </p:spTree>
    <p:extLst>
      <p:ext uri="{BB962C8B-B14F-4D97-AF65-F5344CB8AC3E}">
        <p14:creationId xmlns:p14="http://schemas.microsoft.com/office/powerpoint/2010/main" val="533945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6DF68-679F-1ED8-F645-A8469AC35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84D57-F4B8-0847-9907-4CDE50B6F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612" y="1763022"/>
            <a:ext cx="11125202" cy="245003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The Power BI solution provides a consolidated view of </a:t>
            </a:r>
            <a:r>
              <a:rPr lang="en-US" sz="1600" dirty="0" err="1"/>
              <a:t>SwiftLog</a:t>
            </a:r>
            <a:r>
              <a:rPr lang="en-US" sz="1600" dirty="0"/>
              <a:t> Logistics' revenue, customers, inventory, deliveries and returns.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The analysis highlights delivery delays, return prevention, inventory control and performance measurement as key areas for improvement.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The next steps are to validate the reported figures, investigate operational causes, implement the recommended improvements and monitor results through clearly defined KPIs.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/>
              <a:t>Final message:</a:t>
            </a:r>
            <a:r>
              <a:rPr lang="en-US" sz="1600" dirty="0"/>
              <a:t> Reliable data, efficient operations and continuous performance monitoring can help </a:t>
            </a:r>
            <a:r>
              <a:rPr lang="en-US" sz="1600" dirty="0" err="1"/>
              <a:t>SwiftLog</a:t>
            </a:r>
            <a:r>
              <a:rPr lang="en-US" sz="1600" dirty="0"/>
              <a:t> Logistics improve service quality and make better business decisions.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24823677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43</TotalTime>
  <Words>1042</Words>
  <Application>Microsoft Office PowerPoint</Application>
  <PresentationFormat>Widescreen</PresentationFormat>
  <Paragraphs>112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Modulo</vt:lpstr>
      <vt:lpstr>SWIFTLOG LOGISTICS </vt:lpstr>
      <vt:lpstr>Business Overview </vt:lpstr>
      <vt:lpstr>PROJECT OBJECTIVES</vt:lpstr>
      <vt:lpstr>DATA PREPARATION PROCESS</vt:lpstr>
      <vt:lpstr>EXECUTIVE OVERVIEW</vt:lpstr>
      <vt:lpstr>MONTHLY REVENUE TREND</vt:lpstr>
      <vt:lpstr>CUSTOMER&amp;PRODUCT PERFORMANCE</vt:lpstr>
      <vt:lpstr>DELIVERY PERFORMANCE ANALYSIS</vt:lpstr>
      <vt:lpstr>PRODUCT RETURN ANALYSIS</vt:lpstr>
      <vt:lpstr>INVENTORY&amp;WAREHOUSE ANALYSIS</vt:lpstr>
      <vt:lpstr>KEY BUSINESS FINDINGS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Gordon Moenga</dc:creator>
  <cp:lastModifiedBy>Gordon Moenga</cp:lastModifiedBy>
  <cp:revision>1</cp:revision>
  <dcterms:created xsi:type="dcterms:W3CDTF">2026-10-19T19:14:22Z</dcterms:created>
  <dcterms:modified xsi:type="dcterms:W3CDTF">2026-10-19T19:57:26Z</dcterms:modified>
</cp:coreProperties>
</file>